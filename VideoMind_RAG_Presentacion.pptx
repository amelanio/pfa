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Documentos</c:v>
                </c:pt>
              </c:strCache>
            </c:strRef>
          </c:tx>
          <c:spPr>
            <a:solidFill>
              <a:srgbClr val="38BDF8"/>
            </a:solidFill>
          </c:spPr>
          <c:cat>
            <c:strRef>
              <c:f>Sheet1!$A$2:$A$5</c:f>
              <c:strCache>
                <c:ptCount val="4"/>
                <c:pt idx="0">
                  <c:v>Excelente
(&gt;0.8)</c:v>
                </c:pt>
                <c:pt idx="1">
                  <c:v>Bueno
(0.6-0.8)</c:v>
                </c:pt>
                <c:pt idx="2">
                  <c:v>Regular
(0.4-0.6)</c:v>
                </c:pt>
                <c:pt idx="3">
                  <c:v>Pobre
(&lt;0.4)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885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1E293B"/>
              </a:solidFill>
            </a:ln>
          </c:spPr>
        </c:majorGridlines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Docs</c:v>
                </c:pt>
              </c:strCache>
            </c:strRef>
          </c:tx>
          <c:spPr>
            <a:solidFill>
              <a:srgbClr val="8B5CF6"/>
            </a:solidFill>
          </c:spPr>
          <c:cat>
            <c:strRef>
              <c:f>Sheet1!$A$2:$A$9</c:f>
              <c:strCache>
                <c:ptCount val="8"/>
                <c:pt idx="0">
                  <c:v>llm_38</c:v>
                </c:pt>
                <c:pt idx="1">
                  <c:v>llm_39</c:v>
                </c:pt>
                <c:pt idx="2">
                  <c:v>llm_40</c:v>
                </c:pt>
                <c:pt idx="3">
                  <c:v>llm_41</c:v>
                </c:pt>
                <c:pt idx="4">
                  <c:v>llm_42</c:v>
                </c:pt>
                <c:pt idx="5">
                  <c:v>llm_43</c:v>
                </c:pt>
                <c:pt idx="6">
                  <c:v>llm_44</c:v>
                </c:pt>
                <c:pt idx="7">
                  <c:v>nlp_33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95</c:v>
                </c:pt>
                <c:pt idx="1">
                  <c:v>115</c:v>
                </c:pt>
                <c:pt idx="2">
                  <c:v>116</c:v>
                </c:pt>
                <c:pt idx="3">
                  <c:v>102</c:v>
                </c:pt>
                <c:pt idx="4">
                  <c:v>84</c:v>
                </c:pt>
                <c:pt idx="5">
                  <c:v>250</c:v>
                </c:pt>
                <c:pt idx="6">
                  <c:v>80</c:v>
                </c:pt>
                <c:pt idx="7">
                  <c:v>44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1E293B"/>
              </a:solidFill>
            </a:ln>
          </c:spPr>
        </c:majorGridlines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Peso</c:v>
                </c:pt>
              </c:strCache>
            </c:strRef>
          </c:tx>
          <c:dPt>
            <c:idx val="0"/>
            <c:spPr>
              <a:solidFill>
                <a:srgbClr val="38BDF8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8B5CF6"/>
              </a:solidFill>
            </c:spPr>
          </c:dPt>
          <c:dPt>
            <c:idx val="4"/>
            <c:spPr>
              <a:solidFill>
                <a:srgbClr val="EC4899"/>
              </a:solidFill>
            </c:spPr>
          </c:dPt>
          <c:dPt>
            <c:idx val="5"/>
            <c:spPr>
              <a:solidFill>
                <a:srgbClr val="94A3B8"/>
              </a:solidFill>
            </c:spPr>
          </c:dPt>
          <c:cat>
            <c:strRef>
              <c:f>Sheet1!$A$2:$A$7</c:f>
              <c:strCache>
                <c:ptCount val="6"/>
                <c:pt idx="0">
                  <c:v>FAISS 35%</c:v>
                </c:pt>
                <c:pt idx="1">
                  <c:v>BM25 25%</c:v>
                </c:pt>
                <c:pt idx="2">
                  <c:v>Topic 15%</c:v>
                </c:pt>
                <c:pt idx="3">
                  <c:v>Keywords 10%</c:v>
                </c:pt>
                <c:pt idx="4">
                  <c:v>Quality 10%</c:v>
                </c:pt>
                <c:pt idx="5">
                  <c:v>Multi 5%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</c:ser>
      </c:pieChart>
    </c:plotArea>
    <c:legend>
      <c:legendPos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FAISS solo</c:v>
                </c:pt>
              </c:strCache>
            </c:strRef>
          </c:tx>
          <c:spPr>
            <a:solidFill>
              <a:srgbClr val="38BDF8"/>
            </a:solidFill>
          </c:spPr>
          <c:cat>
            <c:strRef>
              <c:f>Sheet1!$A$2:$A$4</c:f>
              <c:strCache>
                <c:ptCount val="3"/>
                <c:pt idx="0">
                  <c:v>Top-1
Relevante (%)</c:v>
                </c:pt>
                <c:pt idx="1">
                  <c:v>Top-3 medio
(de 5)</c:v>
                </c:pt>
                <c:pt idx="2">
                  <c:v>Top-5 medio
(de 5)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86.7</c:v>
                </c:pt>
                <c:pt idx="1">
                  <c:v>2.47</c:v>
                </c:pt>
                <c:pt idx="2">
                  <c:v>3.87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BM25 solo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Sheet1!$A$2:$A$4</c:f>
              <c:strCache>
                <c:ptCount val="3"/>
                <c:pt idx="0">
                  <c:v>Top-1
Relevante (%)</c:v>
                </c:pt>
                <c:pt idx="1">
                  <c:v>Top-3 medio
(de 5)</c:v>
                </c:pt>
                <c:pt idx="2">
                  <c:v>Top-5 medio
(de 5)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86.7</c:v>
                </c:pt>
                <c:pt idx="1">
                  <c:v>2.33</c:v>
                </c:pt>
                <c:pt idx="2">
                  <c:v>3.67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Híbrido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Sheet1!$A$2:$A$4</c:f>
              <c:strCache>
                <c:ptCount val="3"/>
                <c:pt idx="0">
                  <c:v>Top-1
Relevante (%)</c:v>
                </c:pt>
                <c:pt idx="1">
                  <c:v>Top-3 medio
(de 5)</c:v>
                </c:pt>
                <c:pt idx="2">
                  <c:v>Top-5 medio
(de 5)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93.3</c:v>
                </c:pt>
                <c:pt idx="1">
                  <c:v>2.6</c:v>
                </c:pt>
                <c:pt idx="2">
                  <c:v>4.07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1E293B"/>
              </a:solidFill>
            </a:ln>
          </c:spPr>
        </c:majorGridlines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CBD5E1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37760" y="1645920"/>
            <a:ext cx="2286000" cy="4114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0" y="16642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PROYECTO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VideoMind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Chatbot local con búsqueda semántica sobre grabaciones de clase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297680"/>
            <a:ext cx="21031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45920" y="4754880"/>
            <a:ext cx="2011680" cy="59436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800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100% Local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4754880"/>
            <a:ext cx="2011680" cy="59436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4800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886 docs indexados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754880"/>
            <a:ext cx="2011680" cy="59436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800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Citas temporales MM:SS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4754880"/>
            <a:ext cx="2011680" cy="59436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4800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Híbrido FAISS + BM25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Alejandro Martín  |  KeepCoding — Máster IA &amp; ML  |  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El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39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Horas de clase grabadas sin indexar</a:t>
            </a:r>
          </a:p>
          <a:p>
            <a:pPr>
              <a:spcAft>
                <a:spcPts val="1839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Buscar un concepto = rebobinar el vídeo completo</a:t>
            </a:r>
          </a:p>
          <a:p>
            <a:pPr>
              <a:spcAft>
                <a:spcPts val="1839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No hay forma de consultar el contenido por texto</a:t>
            </a:r>
          </a:p>
          <a:p>
            <a:pPr>
              <a:spcAft>
                <a:spcPts val="1839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Se pierden matices y detalles explicados en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029200" cy="32004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La solución: VideoMind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6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Transcripción automática con Whisper</a:t>
            </a:r>
          </a:p>
          <a:p>
            <a:pPr>
              <a:spcAft>
                <a:spcPts val="136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Enriquecimiento con LLM local (Ollama)</a:t>
            </a:r>
          </a:p>
          <a:p>
            <a:pPr>
              <a:spcAft>
                <a:spcPts val="136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Búsqueda híbrida semántica + léxica</a:t>
            </a:r>
          </a:p>
          <a:p>
            <a:pPr>
              <a:spcAft>
                <a:spcPts val="136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Respuestas con citas temporales MM:SS</a:t>
            </a:r>
          </a:p>
          <a:p>
            <a:pPr>
              <a:spcAft>
                <a:spcPts val="136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  100% local, sin APIs cloud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2560320" cy="13716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83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38BDF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23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Sesiones grabadas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846320"/>
            <a:ext cx="2560320" cy="13716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4983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8B5CF6"/>
                </a:solidFill>
                <a:latin typeface="Calibri"/>
              </a:defRPr>
            </a:pPr>
            <a:r>
              <a:t>886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5623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Documentos indexados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846320"/>
            <a:ext cx="2560320" cy="13716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4983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0B981"/>
                </a:solidFill>
                <a:latin typeface="Calibri"/>
              </a:defRPr>
            </a:pPr>
            <a:r>
              <a:t>~94ms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5623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Latencia retrieval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4846320"/>
            <a:ext cx="2560320" cy="13716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4983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59E0B"/>
                </a:solidFill>
                <a:latin typeface="Calibri"/>
              </a:defRPr>
            </a:pPr>
            <a:r>
              <a:t>93.3%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5623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Top-1 híbrido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Arquitectura Técnica del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200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1691640" cy="39319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5603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Transcripción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017520"/>
            <a:ext cx="1600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mlx-whisper large-v3-turbo</a:t>
            </a:r>
            <a:br/>
            <a:r>
              <a:t>Segmentos + word_spans</a:t>
            </a:r>
            <a:br/>
            <a:r>
              <a:t>Timestamps en ms</a:t>
            </a:r>
            <a:br/>
            <a:r>
              <a:t>8 sesiones procesadas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11680" y="3200400"/>
            <a:ext cx="18288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94560" y="1554480"/>
            <a:ext cx="1691640" cy="39319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E87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97480" y="1737360"/>
            <a:ext cx="640080" cy="640080"/>
          </a:xfrm>
          <a:prstGeom prst="ellipse">
            <a:avLst/>
          </a:prstGeom>
          <a:solidFill>
            <a:srgbClr val="E87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5603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793E"/>
                </a:solidFill>
                <a:latin typeface="Calibri"/>
              </a:defRPr>
            </a:pPr>
            <a:r>
              <a:t>Normalización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017520"/>
            <a:ext cx="1600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Eliminación alucinaciones</a:t>
            </a:r>
            <a:br/>
            <a:r>
              <a:t>Corrección términos ASR</a:t>
            </a:r>
            <a:br/>
            <a:r>
              <a:t>Deduplicación</a:t>
            </a:r>
            <a:br/>
            <a:r>
              <a:t>Normalización puntuación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31920" y="3200400"/>
            <a:ext cx="18288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0" y="1554480"/>
            <a:ext cx="1691640" cy="39319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173736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5603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Pseudo-Labels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017520"/>
            <a:ext cx="1600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Ollama qwen2.5:14b</a:t>
            </a:r>
            <a:br/>
            <a:r>
              <a:t>JSON: topic, explanation,</a:t>
            </a:r>
            <a:br/>
            <a:r>
              <a:t>bullets(5), keywords</a:t>
            </a:r>
            <a:br/>
            <a:r>
              <a:t>Retries + validación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52160" y="3200400"/>
            <a:ext cx="18288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35040" y="1554480"/>
            <a:ext cx="1691640" cy="39319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60" y="173736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5603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Preparación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017520"/>
            <a:ext cx="1600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Quality scoring (7 criterios)</a:t>
            </a:r>
            <a:br/>
            <a:r>
              <a:t>Corrección canónica</a:t>
            </a:r>
            <a:br/>
            <a:r>
              <a:t>Umbral ≥ 0.55 → 886 docs</a:t>
            </a:r>
            <a:br/>
            <a:r>
              <a:t>Docs duales: enriq. + evid.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772400" y="3200400"/>
            <a:ext cx="18288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55280" y="1554480"/>
            <a:ext cx="1691640" cy="39319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58200" y="17373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25603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Indexación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017520"/>
            <a:ext cx="1600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FAISS: 384D, IndexFlatIP</a:t>
            </a:r>
            <a:br/>
            <a:r>
              <a:t>BM25: 6.424 términos</a:t>
            </a:r>
            <a:br/>
            <a:r>
              <a:t>Índices duales por capa</a:t>
            </a:r>
            <a:br/>
            <a:r>
              <a:t>Persistencia: .rag_index/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692640" y="3200400"/>
            <a:ext cx="18288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75520" y="1554480"/>
            <a:ext cx="1691640" cy="39319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78440" y="173736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25603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C4899"/>
                </a:solidFill>
                <a:latin typeface="Calibri"/>
              </a:defRPr>
            </a:pPr>
            <a:r>
              <a:t>Chatbot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017520"/>
            <a:ext cx="1600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Gradio (localhost:7860)</a:t>
            </a:r>
            <a:br/>
            <a:r>
              <a:t>Retrieval híbrido + reranking</a:t>
            </a:r>
            <a:br/>
            <a:r>
              <a:t>Query expansion ES↔EN</a:t>
            </a:r>
            <a:br/>
            <a:r>
              <a:t>Generación con Ollama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5669280"/>
            <a:ext cx="11612880" cy="73152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MP3 → Whisper → Normalización → Pseudo-labels → Quality filter (887→886) → FAISS+BM25 → Gradio chatbot con citas MM:SS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Pseudo-Labels: Transcripción → Conocimiento Estructurado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¿Por qué pseudo-labels?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2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La transcripción cruda es ruidosa e inestructurada</a:t>
            </a:r>
          </a:p>
          <a:p>
            <a:pPr>
              <a:spcAft>
                <a:spcPts val="82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Los pseudo-labels convierten texto ASR en unidades</a:t>
            </a:r>
          </a:p>
          <a:p>
            <a:pPr>
              <a:spcAft>
                <a:spcPts val="82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    semánticamente densas y más recuperables</a:t>
            </a:r>
          </a:p>
          <a:p>
            <a:pPr>
              <a:spcAft>
                <a:spcPts val="82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Mejoran búsqueda: topic + keywords + bullets</a:t>
            </a:r>
          </a:p>
          <a:p>
            <a:pPr>
              <a:spcAft>
                <a:spcPts val="82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Mejoran respuesta: explicación + ejemplo listos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Pipeline de generación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2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Modelo: Ollama qwen2.5:14b (local, ~14B params)</a:t>
            </a:r>
          </a:p>
          <a:p>
            <a:pPr>
              <a:spcAft>
                <a:spcPts val="82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Schema estricto: 8 campos obligatorios</a:t>
            </a:r>
          </a:p>
          <a:p>
            <a:pPr>
              <a:spcAft>
                <a:spcPts val="82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Validación JSON + retries con feedback automático</a:t>
            </a:r>
          </a:p>
          <a:p>
            <a:pPr>
              <a:spcAft>
                <a:spcPts val="82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  Resultado: 100% JSON válidos (887/887)</a:t>
            </a:r>
          </a:p>
          <a:p>
            <a:pPr>
              <a:spcAft>
                <a:spcPts val="82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Sanitización inline: limpia contaminación ASR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ANTES: Transcripción cruda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5486400" cy="2011680"/>
          </a:xfrm>
          <a:prstGeom prst="roundRect">
            <a:avLst/>
          </a:prstGeom>
          <a:solidFill>
            <a:srgbClr val="0D111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999"/>
                </a:solidFill>
                <a:latin typeface="Courier New"/>
              </a:defRPr>
            </a:pPr>
            <a:r>
              <a:t>"vale pues esto es como cuando</a:t>
            </a:r>
            <a:br/>
            <a:r>
              <a:t>tienes un back of works que es una</a:t>
            </a:r>
            <a:br/>
            <a:r>
              <a:t>representacion vectorial del texto</a:t>
            </a:r>
            <a:br/>
            <a:r>
              <a:t>o sea cada dimension es una palabra</a:t>
            </a:r>
            <a:br/>
            <a:r>
              <a:t>del vocabulario vale y es muy util</a:t>
            </a:r>
            <a:br/>
            <a:r>
              <a:t>para NLP pues eso..."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DESPUÉS: Pseudo-label estructurado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2011680"/>
          </a:xfrm>
          <a:prstGeom prst="roundRect">
            <a:avLst/>
          </a:prstGeom>
          <a:solidFill>
            <a:srgbClr val="0D11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FFCC"/>
                </a:solidFill>
                <a:latin typeface="Courier New"/>
              </a:defRPr>
            </a:pPr>
            <a:r>
              <a:t>{</a:t>
            </a:r>
            <a:br/>
            <a:r>
              <a:t>  "topic": "Bag of Words",</a:t>
            </a:r>
            <a:br/>
            <a:r>
              <a:t>  "explanation": "Representación vectorial...",</a:t>
            </a:r>
            <a:br/>
            <a:r>
              <a:t>  "bullets": ["Cada dimensión = 1 palabra", ...],</a:t>
            </a:r>
            <a:br/>
            <a:r>
              <a:t>  "keywords": ["BoW","NLP","vectorización"],</a:t>
            </a:r>
            <a:br/>
            <a:r>
              <a:t>  "timestamps_ms": [142300, 168500]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Calidad de Datos y Documentos Duales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200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029200" cy="292608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Quality Scoring (0-1)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Completitud de campos         20%</a:t>
            </a:r>
          </a:p>
          <a:p>
            <a:pPr>
              <a:spcAft>
                <a:spcPts val="66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Keywords coherentes           20%</a:t>
            </a:r>
          </a:p>
          <a:p>
            <a:pPr>
              <a:spcAft>
                <a:spcPts val="66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Bullets informativos          20%</a:t>
            </a:r>
          </a:p>
          <a:p>
            <a:pPr>
              <a:spcAft>
                <a:spcPts val="66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Explicación sustancial        15%</a:t>
            </a:r>
          </a:p>
          <a:p>
            <a:pPr>
              <a:spcAft>
                <a:spcPts val="66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Evidence presente             10%</a:t>
            </a:r>
          </a:p>
          <a:p>
            <a:pPr>
              <a:spcAft>
                <a:spcPts val="66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Topic concreto                10%</a:t>
            </a:r>
          </a:p>
          <a:p>
            <a:pPr>
              <a:spcAft>
                <a:spcPts val="66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Timestamps válidos             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887 generados → 886 indexados (1 filtrado por calidad)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371600"/>
            <a:ext cx="5943600" cy="29260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508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Documentos Duales: ¿por qué dos capas?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0574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65"/>
              </a:spcAft>
              <a:defRPr sz="1300" b="1">
                <a:solidFill>
                  <a:srgbClr val="38BDF8"/>
                </a:solidFill>
                <a:latin typeface="Calibri"/>
              </a:defRPr>
            </a:pPr>
            <a:r>
              <a:t>  Doc. Enriquecido (pseudo_label):</a:t>
            </a:r>
          </a:p>
          <a:p>
            <a:pPr>
              <a:spcAft>
                <a:spcPts val="465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  topic + explanation + bullets + keywords</a:t>
            </a:r>
          </a:p>
          <a:p>
            <a:pPr>
              <a:spcAft>
                <a:spcPts val="465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  → Optimizado para recuperación y respuesta</a:t>
            </a:r>
          </a:p>
          <a:p>
            <a:pPr>
              <a:spcAft>
                <a:spcPts val="465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65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  Doc. Evidencia (raw_evidence):</a:t>
            </a:r>
          </a:p>
          <a:p>
            <a:pPr>
              <a:spcAft>
                <a:spcPts val="465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  Transcripción bruta original completa</a:t>
            </a:r>
          </a:p>
          <a:p>
            <a:pPr>
              <a:spcAft>
                <a:spcPts val="465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  → Trazabilidad: verificar qué dijo realmente el profesor</a:t>
            </a:r>
          </a:p>
          <a:p>
            <a:pPr>
              <a:spcAft>
                <a:spcPts val="465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65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  Enlazados por linked_doc_id → auditabilidad completa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57200" y="4480560"/>
          <a:ext cx="502920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Distribución de calidad (n=886)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5760720" y="4480560"/>
          <a:ext cx="594360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76072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Documentos por sesión (8 sesiones)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Búsqueda Híbrida: FAISS + BM25 + Reranking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114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29260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FAISS — Semántico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Similitud semántica con embeddings</a:t>
            </a:r>
          </a:p>
          <a:p>
            <a:pPr>
              <a:spcAft>
                <a:spcPts val="79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Modelo: multilingual-MiniLM-L12</a:t>
            </a:r>
          </a:p>
          <a:p>
            <a:pPr>
              <a:spcAft>
                <a:spcPts val="79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384 dimensiones, IndexFlatIP</a:t>
            </a:r>
          </a:p>
          <a:p>
            <a:pPr>
              <a:spcAft>
                <a:spcPts val="79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Captura sinónimos y paráfrasis</a:t>
            </a:r>
          </a:p>
          <a:p>
            <a:pPr>
              <a:spcAft>
                <a:spcPts val="79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Debilidad: pierde términos exactos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29260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BM25 — Léxico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Coincidencia textual + rareza (IDF)</a:t>
            </a:r>
          </a:p>
          <a:p>
            <a:pPr>
              <a:spcAft>
                <a:spcPts val="79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Okapi BM25 puro Python (k1=1.5, b=0.75)</a:t>
            </a:r>
          </a:p>
          <a:p>
            <a:pPr>
              <a:spcAft>
                <a:spcPts val="79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6.424 términos únicos indexados</a:t>
            </a:r>
          </a:p>
          <a:p>
            <a:pPr>
              <a:spcAft>
                <a:spcPts val="79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Fuerte en acrónimos: PCA, TF-IDF, NLP</a:t>
            </a:r>
          </a:p>
          <a:p>
            <a:pPr>
              <a:spcAft>
                <a:spcPts val="79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Debilidad: no entiende sinónimos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474720" cy="29260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Reranking Multi-Señal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Combina señales léxicas, semánticas</a:t>
            </a:r>
          </a:p>
          <a:p>
            <a:pPr>
              <a:spcAft>
                <a:spcPts val="79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  y de calidad en un solo score</a:t>
            </a:r>
          </a:p>
          <a:p>
            <a:pPr>
              <a:spcAft>
                <a:spcPts val="79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FAISS: 35%  |  BM25: 25%</a:t>
            </a:r>
          </a:p>
          <a:p>
            <a:pPr>
              <a:spcAft>
                <a:spcPts val="79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Topic: 15%  |  Keywords: 10%</a:t>
            </a:r>
          </a:p>
          <a:p>
            <a:pPr>
              <a:spcAft>
                <a:spcPts val="79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Quality: 10%  |  Multi-source: 5%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4480560"/>
          <a:ext cx="502920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Pesos del reranking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4480560"/>
            <a:ext cx="5943600" cy="219456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¿Por qué estos pesos?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02920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9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Ajustados empíricamente sobre consultas de validación</a:t>
            </a:r>
          </a:p>
          <a:p>
            <a:pPr>
              <a:spcAft>
                <a:spcPts val="579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FAISS y BM25 dominan (60%): señales primarias de retrieval</a:t>
            </a:r>
          </a:p>
          <a:p>
            <a:pPr>
              <a:spcAft>
                <a:spcPts val="579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Topic + Keywords (25%): precisión del dominio temático</a:t>
            </a:r>
          </a:p>
          <a:p>
            <a:pPr>
              <a:spcAft>
                <a:spcPts val="579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Quality (10%): priorizar documentos mejor generados</a:t>
            </a:r>
          </a:p>
          <a:p>
            <a:pPr>
              <a:spcAft>
                <a:spcPts val="579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Multi-source (5%): bonus por acuerdo entre señales</a:t>
            </a:r>
          </a:p>
          <a:p>
            <a:pPr>
              <a:spcAft>
                <a:spcPts val="579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  Refinados con pruebas manuales sobre 15 queries tipo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Gestión de Errores: Antes vs. Después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Problema: Error ASR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Whisper transcribe: "back of works"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Normalización (NB02) → "Bag of Words"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Pipeline: alucinaciones, deduplicación,</a:t>
            </a:r>
            <a:br/>
            <a:r>
              <a:t>corrección de términos, unicode, puntuación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Calibri"/>
              </a:defRPr>
            </a:pPr>
            <a:r>
              <a:t>Problema: Query bilingüe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Usuario busca: "neural network"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Expansión → "neural network red neuronal"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48 pares de sinónimos bilingües +</a:t>
            </a:r>
            <a:br/>
            <a:r>
              <a:t>20 acrónimos técnicos (PCA, NLP, BoW...)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11247120" cy="27432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Calibri"/>
              </a:defRPr>
            </a:pPr>
            <a:r>
              <a:t>Problema: "¿Qué es TF-IDF?" — Resultado con una sola señal vs. híbrido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72000"/>
            <a:ext cx="3383280" cy="1737360"/>
          </a:xfrm>
          <a:prstGeom prst="round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FAISS solo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Top-1: "Técnicas de vectorización" (0.71)</a:t>
            </a:r>
            <a:br/>
            <a:r>
              <a:t>→ Relacionado semánticamente pero</a:t>
            </a:r>
            <a:br/>
            <a:r>
              <a:t>  no menciona TF-IDF directamente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572000"/>
            <a:ext cx="3383280" cy="1737360"/>
          </a:xfrm>
          <a:prstGeom prst="round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617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BM25 solo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9377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Top-1: "Frecuencia de términos" (4.2)</a:t>
            </a:r>
            <a:br/>
            <a:r>
              <a:t>→ Match léxico con "TF" pero</a:t>
            </a:r>
            <a:br/>
            <a:r>
              <a:t>  no captura el concepto completo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4572000"/>
            <a:ext cx="3383280" cy="1737360"/>
          </a:xfrm>
          <a:prstGeom prst="roundRect">
            <a:avLst/>
          </a:prstGeom>
          <a:solidFill>
            <a:srgbClr val="0D11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4617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Híbrido (reranking)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9377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t>Top-1: "TF-IDF y Bag of Words" (0.89)</a:t>
            </a:r>
            <a:br/>
            <a:r>
              <a:t>→ Combina match exacto + semántico</a:t>
            </a:r>
            <a:br/>
            <a:r>
              <a:t>  + topic relevance = resultado preciso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Evaluación Comparativa: FAISS vs. BM25 vs. Híbrido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8/11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Métricas de evaluación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15 queries de validación (5 exactas, 5 semánticas, 5 mixtas)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286000"/>
            <a:ext cx="2194560" cy="11887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2423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0B981"/>
                </a:solidFill>
                <a:latin typeface="Calibri"/>
              </a:defRPr>
            </a:pPr>
            <a:r>
              <a:t>93.3%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3063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Top-1 híbrido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2286000"/>
            <a:ext cx="2194560" cy="11887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60" y="2423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94A3B8"/>
                </a:solidFill>
                <a:latin typeface="Calibri"/>
              </a:defRPr>
            </a:pPr>
            <a:r>
              <a:t>86.7%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3063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Top-1 baselines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657600"/>
            <a:ext cx="2194560" cy="11887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8B5CF6"/>
                </a:solidFill>
                <a:latin typeface="Calibri"/>
              </a:defRPr>
            </a:pPr>
            <a:r>
              <a:t>86.7%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4434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Queries con docs únicos</a:t>
            </a:r>
            <a:br/>
            <a:r>
              <a:t>del híbrido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3657600"/>
            <a:ext cx="2194560" cy="11887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59E0B"/>
                </a:solidFill>
                <a:latin typeface="Calibri"/>
              </a:defRPr>
            </a:pPr>
            <a:r>
              <a:t>1.60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4434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Docs únicos extra</a:t>
            </a:r>
            <a:br/>
            <a:r>
              <a:t>por query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03520"/>
            <a:ext cx="11247120" cy="128016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Latencia de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98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BD5E1"/>
                </a:solidFill>
                <a:latin typeface="Calibri"/>
              </a:defRPr>
            </a:pPr>
            <a:r>
              <a:t>FAISS solo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5806440"/>
            <a:ext cx="4389120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57698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80.8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258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BD5E1"/>
                </a:solidFill>
                <a:latin typeface="Calibri"/>
              </a:defRPr>
            </a:pPr>
            <a:r>
              <a:t>BM25 solo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6062472"/>
            <a:ext cx="36576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14016" y="60258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0.6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81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BD5E1"/>
                </a:solidFill>
                <a:latin typeface="Calibri"/>
              </a:defRPr>
            </a:pPr>
            <a:r>
              <a:t>Híbrido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6318504"/>
            <a:ext cx="512064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6281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94.0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669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El híbrido añade solo ~13ms sobre FAISS solo,</a:t>
            </a:r>
            <a:br/>
            <a:r>
              <a:t>pero mejora +6.6% en top-1 y aporta 1.6 docs únicos/query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Chatbot en Acción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9/11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7132320" cy="5303520"/>
          </a:xfrm>
          <a:prstGeom prst="roundRect">
            <a:avLst/>
          </a:prstGeom>
          <a:solidFill>
            <a:srgbClr val="0D111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7132320" cy="5029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VideoMind RAG — 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4572000" cy="5943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5740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¿Qué es Bag of Words y cómo se usa en NLP?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943600" cy="329184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Bag of Words (BoW) es una representación</a:t>
            </a:r>
          </a:p>
          <a:p>
            <a:pPr>
              <a:spcAft>
                <a:spcPts val="52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vectorial del texto donde cada dimensión</a:t>
            </a:r>
          </a:p>
          <a:p>
            <a:pPr>
              <a:spcAft>
                <a:spcPts val="52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corresponde a una palabra del vocabulario.</a:t>
            </a:r>
          </a:p>
          <a:p>
            <a:pPr>
              <a:spcAft>
                <a:spcPts val="52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5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 explica en la sesión 40:</a:t>
            </a:r>
          </a:p>
          <a:p>
            <a:pPr>
              <a:spcAft>
                <a:spcPts val="52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  [02:22] Introducción al concepto de BoW</a:t>
            </a:r>
          </a:p>
          <a:p>
            <a:pPr>
              <a:spcAft>
                <a:spcPts val="52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  [03:45] Ejemplo con matriz de frecuencias</a:t>
            </a:r>
          </a:p>
          <a:p>
            <a:pPr>
              <a:spcAft>
                <a:spcPts val="52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  [05:10] Comparación con TF-IDF</a:t>
            </a:r>
          </a:p>
          <a:p>
            <a:pPr>
              <a:spcAft>
                <a:spcPts val="52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52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Fuente: enriched_llm_40_slide_012 (q=0.92)</a:t>
            </a:r>
          </a:p>
          <a:p>
            <a:pPr>
              <a:spcAft>
                <a:spcPts val="52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Evidencia: evidence_llm_40_slide_012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657600" cy="53035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Funcionalidades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5 modos de respuesta:</a:t>
            </a:r>
          </a:p>
          <a:p>
            <a:pPr>
              <a:spcAft>
                <a:spcPts val="5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Explicar, Técnico, Examen,</a:t>
            </a:r>
          </a:p>
          <a:p>
            <a:pPr>
              <a:spcAft>
                <a:spcPts val="5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Resumen, Apuntes</a:t>
            </a:r>
          </a:p>
          <a:p>
            <a:pPr>
              <a:spcAft>
                <a:spcPts val="52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52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Citas temporales MM:SS</a:t>
            </a:r>
          </a:p>
          <a:p>
            <a:pPr>
              <a:spcAft>
                <a:spcPts val="52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Links clicables al vídeo</a:t>
            </a:r>
          </a:p>
          <a:p>
            <a:pPr>
              <a:spcAft>
                <a:spcPts val="52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Thumbnails de las slides</a:t>
            </a:r>
          </a:p>
          <a:p>
            <a:pPr>
              <a:spcAft>
                <a:spcPts val="52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Clips de audio extraídos</a:t>
            </a:r>
          </a:p>
          <a:p>
            <a:pPr>
              <a:spcAft>
                <a:spcPts val="52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Historial de conversación</a:t>
            </a:r>
          </a:p>
          <a:p>
            <a:pPr>
              <a:spcAft>
                <a:spcPts val="52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52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Trazabilidad:</a:t>
            </a:r>
          </a:p>
          <a:p>
            <a:pPr>
              <a:spcAft>
                <a:spcPts val="5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Cada respuesta enlaza al doc.</a:t>
            </a:r>
          </a:p>
          <a:p>
            <a:pPr>
              <a:spcAft>
                <a:spcPts val="5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enriquecido + evidencia bruta</a:t>
            </a:r>
          </a:p>
          <a:p>
            <a:pPr>
              <a:spcAft>
                <a:spcPts val="52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52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Latencia end-to-end:</a:t>
            </a:r>
          </a:p>
          <a:p>
            <a:pPr>
              <a:spcAft>
                <a:spcPts val="52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4-9 segundos (incluye LLM)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Limitaciones y Trade-offs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Dependencia de Ollama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Requiere Ollama ejecutándose localmente.</a:t>
            </a:r>
            <a:br/>
            <a:r>
              <a:t>Sin Ollama: solo retrieval funciona,</a:t>
            </a:r>
            <a:br/>
            <a:r>
              <a:t>sin generación de respuesta ni pseudo-labels.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56616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Latencia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4-9 s por query (incluye generación LLM).</a:t>
            </a:r>
            <a:br/>
            <a:r>
              <a:t>Trade-off consciente: ejecución 100% local</a:t>
            </a:r>
            <a:br/>
            <a:r>
              <a:t>vs. menor latencia con APIs cloud.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Tamaño del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886 documentos de 8 sesiones.</a:t>
            </a:r>
            <a:br/>
            <a:r>
              <a:t>Suficiente para demostrar el concepto,</a:t>
            </a:r>
            <a:br/>
            <a:r>
              <a:t>pero escalabilidad pendiente de validar.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356616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Evaluación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805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15 queries de validación + pruebas manuales.</a:t>
            </a:r>
            <a:br/>
            <a:r>
              <a:t>Evaluación no exhaustiva: falta benchmark</a:t>
            </a:r>
            <a:br/>
            <a:r>
              <a:t>estandarizado para RAG educativo.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931920"/>
            <a:ext cx="356616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Calibri"/>
              </a:defRPr>
            </a:pPr>
            <a:r>
              <a:t>Dominio específico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4805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Optimizado para clases grabadas (bootcamp).</a:t>
            </a:r>
            <a:br/>
            <a:r>
              <a:t>Vocabulario canónico y expansión bilingüe</a:t>
            </a:r>
            <a:br/>
            <a:r>
              <a:t>adaptados a este contexto concreto.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931920"/>
            <a:ext cx="356616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Calibri"/>
              </a:defRPr>
            </a:pPr>
            <a:r>
              <a:t>Pseudo-labels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805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Generados por LLM, no son ground truth.</a:t>
            </a:r>
            <a:br/>
            <a:r>
              <a:t>Quality scoring mitiga el riesgo, pero</a:t>
            </a:r>
            <a:br/>
            <a:r>
              <a:t>puede haber errores semánticos sutiles.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Aportaciones del Proyecto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11/11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32004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74520" y="1645920"/>
            <a:ext cx="731520" cy="7315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t>RAG local end-to-end</a:t>
            </a:r>
            <a:br/>
            <a:r>
              <a:t>sin dependencias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Pipeline completo de grabación a chatbot</a:t>
            </a:r>
            <a:br/>
            <a:r>
              <a:t>ejecutable en una máquina local.</a:t>
            </a:r>
            <a:br/>
            <a:r>
              <a:t>Whisper + Ollama + FAISS + Gradio.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566160" cy="32004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5000" y="164592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14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Retrieval híbrido con</a:t>
            </a:r>
            <a:br/>
            <a:r>
              <a:t>trazabilidad temporal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FAISS + BM25 + reranking multi-señal.</a:t>
            </a:r>
            <a:br/>
            <a:r>
              <a:t>Citas MM:SS verificables contra evidencia.</a:t>
            </a:r>
            <a:br/>
            <a:r>
              <a:t>93.3% top-1 vs. 86.7% single-signal.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566160" cy="32004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55480" y="1645920"/>
            <a:ext cx="731520" cy="7315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14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Pipeline reproducible</a:t>
            </a:r>
            <a:br/>
            <a:r>
              <a:t>desde grabación a chatbot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6 notebooks secuenciales.</a:t>
            </a:r>
            <a:br/>
            <a:r>
              <a:t>Normalización + quality scoring determinista.</a:t>
            </a:r>
            <a:br/>
            <a:r>
              <a:t>Mismo índice + misma query = mismo resultado.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029200"/>
            <a:ext cx="7589520" cy="15544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51206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Calibri"/>
              </a:defRPr>
            </a:pPr>
            <a:r>
              <a:t>¡Gracias!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6235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¿Preguntas?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989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Alejandro Martín  —  VideoMind RAG  —  Marzo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